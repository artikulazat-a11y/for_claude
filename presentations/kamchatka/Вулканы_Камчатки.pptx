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11eef267-5200-0cd8-3d72-731911f324fb}">
          <p14:sldIdLst>
            <p14:sldId id="256"/>
            <p14:sldId id="257"/>
          </p14:sldIdLst>
        </p14:section>
        <p14:section name="География" id="{49c7eec5-4c9d-5817-0d30-b48cfeedfe7c}">
          <p14:sldIdLst>
            <p14:sldId id="258"/>
            <p14:sldId id="259"/>
            <p14:sldId id="260"/>
          </p14:sldIdLst>
        </p14:section>
        <p14:section name="Чудеса природы" id="{3052e977-7467-3704-fd20-d6f98caad6a8}">
          <p14:sldIdLst>
            <p14:sldId id="261"/>
            <p14:sldId id="262"/>
            <p14:sldId id="263"/>
            <p14:sldId id="264"/>
          </p14:sldIdLst>
        </p14:section>
        <p14:section name="Охрана" id="{9f46f581-0377-52b0-2185-61bf0fb5c94d}">
          <p14:sldIdLst>
            <p14:sldId id="265"/>
            <p14:sldId id="266"/>
          </p14:sldIdLst>
        </p14:section>
        <p14:section name="Итог" id="{87803996-2cbd-1773-fea6-842dabfd608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516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A5160"/>
                </a:solidFill>
                <a:latin typeface="+mn-lt"/>
              </a:rPr>
              <a:t>Высота вулканов Камчатки, м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Высота, м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1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3A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3A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3A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3A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Ключевская</c:v>
                  </c:pt>
                  <c:pt idx="1">
                    <c:v>Камень</c:v>
                  </c:pt>
                  <c:pt idx="2">
                    <c:v>Кроноцкая</c:v>
                  </c:pt>
                  <c:pt idx="3">
                    <c:v>Корякская</c:v>
                  </c:pt>
                  <c:pt idx="4">
                    <c:v>Авачинская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4750</c:v>
                </c:pt>
                <c:pt idx="1">
                  <c:v>4575</c:v>
                </c:pt>
                <c:pt idx="2">
                  <c:v>3528</c:v>
                </c:pt>
                <c:pt idx="3">
                  <c:v>3456</c:v>
                </c:pt>
                <c:pt idx="4">
                  <c:v>2741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300" u="none">
                  <a:solidFill>
                    <a:srgbClr val="1F21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1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4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Тема моего доклада — «Вулканы Камчатки». Это один из природных объектов Всемирного наследия ЮНЕСКО в России.
На фотографии — Ключевская сопка, самый высокий действующий вулкан Евразии.
Сегодня я расскажу, где находится Камчатка, почему там так много вулканов, какие удивительные места и животные там есть и почему ЮНЕСКО взяло эту территорию под охрану.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— что такое Всемирное наследие. ЮНЕСКО — это организация ООН, которая занимается образованием, наукой и культурой.
В 1972 году страны договорились вместе охранять самые ценные места планеты — и природные, и созданные человеком. Так появился Список всемирного наследия. Сейчас в нём больше 1200 объектов по всему миру, и около 30 из них находятся в России.
Вулканы Камчатки включили в этот список в 1996 году, а в 2001 году объект расширили — добавили Ключевской природный парк, где стоят самые высокие вулканы полуострова.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Камчатка — это полуостров на северо-востоке России. С запада его омывает Охотское море, с востока — Берингово море и Тихий океан. Полуостров вытянут с севера на юг примерно на 1200 километров.
От Казани до Петропавловска-Камчатского — около 6300 километров по прямой. А разница во времени — целых 9 часов: когда в Казани 9 утра, на Камчатке уже 6 вечера.
Интересно, что автомобильной дороги на «большую землю» нет: на Камчатку можно попасть только самолётом или по морю.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же на Камчатке так много вулканов? Дело в том, что земная кора состоит из огромных плит, которые очень медленно движутся.
Цифра 1. Тихоокеанская плита движется к Камчатке — примерно на 8 сантиметров в год. Это примерно в два раза быстрее, чем растут ногти.
Цифра 2. У берегов Камчатки плита уходит вниз, под край материка. На глубине около 100 километров очень горячо — горные породы плавятся, и образуется магма.
Цифра 3. Магма легче окружающих пород, поэтому она поднимается вверх и прорывается на поверхность — так рождается вулкан.
Такие цепочки вулканов окружают весь Тихий океан, поэтому их называют Тихоокеанским огненным кольцом. Камчатка — одна из самых «горячих» его частей.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Немного цифр. Объект «Вулканы Камчатки» — это не одно место, а шесть отдельных охраняемых территорий: Кроноцкий заповедник, Южно-Камчатский заказник и четыре природных парка — Быстринский, «Налычево», Южно-Камчатский и Ключевской.
Их общая площадь — около 3,8 миллиона гектаров. Это больше, чем вся Бельгия!
На этой территории около 30 действующих вулканов и ещё сотни потухших.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Самый знаменитый вулкан Камчатки — Ключевская сопка. Её высота около 4750 метров, и это самый высокий действующий вулкан Евразии. Точная высота меняется после извержений.
Ключевская сопка — один из самых активных вулканов мира. Она извергается очень часто: например, в 2021, 2023 и 2025 годах. Столб пепла может подниматься на 12–13 километров — на ту высоту, где летают пассажирские самолёты. Впервые на её вершину поднялись ещё в 1788 году.
На графике видно, что и другие вулканы Камчатки — настоящие великаны: это Камень, Кроноцкая, Корякская и Авачинская сопки.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Одно из самых удивительных мест Камчатки — Долина гейзеров в Кроноцком заповеднике. Гейзер — это горячий источник, который время от времени выбрасывает вверх фонтан кипятка и пара.
Долину открыли в апреле 1941 года геолог Татьяна Устинова и проводник Анисифор Крупенин. Это одно из крупнейших гейзерных полей мира: около 20 крупных гейзеров и сотни горячих источников на площади около 6 квадратных километров. Самый большой гейзер называется Великан.
В 2007 году в долине сошёл огромный оползень и засыпал часть гейзеров. Это показывает, что природа здесь постоянно меняется.
Сейчас туристы попадают в долину только на вертолёте и ходят по специальным деревянным настилам вместе с сотрудниками заповедника.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Рядом с Долиной гейзеров находится кальдера Узон. Кальдера — это огромная котловина, которая образуется, когда после мощного извержения вершина вулкана проваливается внутрь.
Кальдера Узон появилась около 40 тысяч лет назад, её размер — 12 на 9 километров. Здесь около сотни горячих источников, кипящие грязевые котлы и кислотные озёра.
В горячей воде живут особые бактерии и водоросли, которым нужна высокая температура, — учёные изучают их, как в природной лаборатории.
А ещё в кальдере Узон образуется самая молодая нефть на планете. Обычно на это уходят миллионы лет, а здесь учёные могут наблюдать этот процесс своими глазами.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Камчатка — это ещё и дикая природа. Здесь живёт много бурых медведей: только в Кроноцком заповеднике их больше 800.
Медведи особенно любят Курильское озеро на юге полуострова. Каждый год сюда на нерест приходит около 3 миллионов рыб нерки — это вид лосося. На берегах озера собирается до 200 медведей, которые ловят рыбу. На фотографии как раз медведь на Курильском озере.
Здесь же живёт белоплечий орлан — один из самых крупных орлов в мире, он занесён в Красную книгу. А высоко в горах встречается снежный баран — он ловко передвигается по крутым скалам.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именно Камчатка попала в Список всемирного наследия? У ЮНЕСКО есть четыре критерия для природных объектов, и Камчатка подходит сразу под все четыре. Так бывает нечасто.
Первый — необычайная красота: вулканы, гейзеры, горячие озёра и дикие реки.
Второй — это «летопись Земли»: здесь видно, как рождаются вулканы и меняется рельеф.
Третий — живые экосистемы. Например, лосось приходит из океана в реки, им питаются медведи и орланы, а остатки рыбы удобряют почву и лес.
Четвёртый — разнообразие жизни: здесь много редких растений и животных, в том числе из Красной книги.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Даже такой знаменитой природе угрожает опасность. Главные угрозы — браконьеры, которые незаконно ловят лосося ради икры; мусор и «дикий» туризм, когда люди ходят где попало и пугают животных; а также пожары и природные катастрофы.
Чтобы сохранить Камчатку, здесь действует строгий режим: в заповедник можно попасть только с разрешением, туристов водят по специальным тропам, за вулканами наблюдают учёные, а реки охраняют инспекторы.
Каждый из нас тоже может помочь: не оставлять мусор, ходить только по тропам и не подкармливать диких животных.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Подведу итог. Вулканы Камчатки — это место, где можно своими глазами увидеть, как живёт и меняется наша планета: здесь рождаются вулканы, бьют гейзеры, а лосось и медведи живут так же, как тысячи лет назад.
Поэтому эта территория — достояние не только России, но и всего человечества, и наша общая задача — её сохранить.
На фотографии — Кроноцкая сопка, снятая с Международной космической станции. Она почти идеально ровная, как японская гора Фудзи.
Спасибо за внимание! Готов ответить на ваши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46120"/>
            <a:ext cx="105156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480560"/>
            <a:ext cx="8686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35040" y="384048"/>
            <a:ext cx="56080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R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5669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5394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lyuchevskaya photo" descr="Ключевская сопка на закат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Photo overlay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alpha val="55000"/>
            </a:schemeClr>
          </a:solidFill>
          <a:ln/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32461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Вулканы Камчатки</a:t>
            </a:r>
            <a:endParaRPr lang="en-US" sz="5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4480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4"/>
                </a:solidFill>
              </a:rPr>
              <a:t>Объект Всемирного наследия ЮНЕСКО в России</a:t>
            </a:r>
            <a:endParaRPr lang="en-US" sz="2600" dirty="0"/>
          </a:p>
        </p:txBody>
      </p:sp>
      <p:sp>
        <p:nvSpPr>
          <p:cNvPr id="7" name="Author"/>
          <p:cNvSpPr txBox="1"/>
          <p:nvPr/>
        </p:nvSpPr>
        <p:spPr>
          <a:xfrm>
            <a:off x="548640" y="5257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Доклад ученика 8А класса Серазентдинова Артура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Что такое Всемирное наследие ЮНЕСКО</a:t>
            </a:r>
            <a:endParaRPr lang="en-US" sz="3600" dirty="0"/>
          </a:p>
        </p:txBody>
      </p:sp>
      <p:sp>
        <p:nvSpPr>
          <p:cNvPr id="4" name="Definition"/>
          <p:cNvSpPr txBox="1"/>
          <p:nvPr/>
        </p:nvSpPr>
        <p:spPr>
          <a:xfrm>
            <a:off x="548640" y="14173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ЮНЕСКО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— организация ООН по вопросам образования, науки и культуры. Она ведёт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Список всемирного наследия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— самых ценных мест планеты, которые нужно сохранить для будущих поколений.</a:t>
            </a:r>
            <a:endParaRPr lang="en-US" sz="1800" dirty="0"/>
          </a:p>
        </p:txBody>
      </p:sp>
      <p:sp>
        <p:nvSpPr>
          <p:cNvPr id="5" name="Stat card 1"/>
          <p:cNvSpPr/>
          <p:nvPr/>
        </p:nvSpPr>
        <p:spPr>
          <a:xfrm>
            <a:off x="548640" y="3154680"/>
            <a:ext cx="24688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6" name="Stat value 1"/>
          <p:cNvSpPr txBox="1"/>
          <p:nvPr/>
        </p:nvSpPr>
        <p:spPr>
          <a:xfrm>
            <a:off x="777240" y="3291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1200+</a:t>
            </a:r>
            <a:endParaRPr lang="en-US" sz="4400" dirty="0"/>
          </a:p>
        </p:txBody>
      </p:sp>
      <p:sp>
        <p:nvSpPr>
          <p:cNvPr id="7" name="Stat label 1"/>
          <p:cNvSpPr txBox="1"/>
          <p:nvPr/>
        </p:nvSpPr>
        <p:spPr>
          <a:xfrm>
            <a:off x="77724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объектов во всём мире</a:t>
            </a:r>
            <a:endParaRPr lang="en-US" sz="1500" dirty="0"/>
          </a:p>
        </p:txBody>
      </p:sp>
      <p:sp>
        <p:nvSpPr>
          <p:cNvPr id="8" name="Stat card 2"/>
          <p:cNvSpPr/>
          <p:nvPr/>
        </p:nvSpPr>
        <p:spPr>
          <a:xfrm>
            <a:off x="3291840" y="3154680"/>
            <a:ext cx="24688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9" name="Stat value 2"/>
          <p:cNvSpPr txBox="1"/>
          <p:nvPr/>
        </p:nvSpPr>
        <p:spPr>
          <a:xfrm>
            <a:off x="3520440" y="3291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30</a:t>
            </a:r>
            <a:endParaRPr lang="en-US" sz="4400" dirty="0"/>
          </a:p>
        </p:txBody>
      </p:sp>
      <p:sp>
        <p:nvSpPr>
          <p:cNvPr id="10" name="Stat label 2"/>
          <p:cNvSpPr txBox="1"/>
          <p:nvPr/>
        </p:nvSpPr>
        <p:spPr>
          <a:xfrm>
            <a:off x="352044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объектов в России</a:t>
            </a:r>
            <a:endParaRPr lang="en-US" sz="1500" dirty="0"/>
          </a:p>
        </p:txBody>
      </p:sp>
      <p:sp>
        <p:nvSpPr>
          <p:cNvPr id="11" name="Kinds circle"/>
          <p:cNvSpPr/>
          <p:nvPr/>
        </p:nvSpPr>
        <p:spPr>
          <a:xfrm>
            <a:off x="548640" y="51663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Kind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5291084"/>
            <a:ext cx="317480" cy="317480"/>
          </a:xfrm>
          <a:prstGeom prst="rect">
            <a:avLst/>
          </a:prstGeom>
        </p:spPr>
      </p:pic>
      <p:sp>
        <p:nvSpPr>
          <p:cNvPr id="13" name="Kinds text"/>
          <p:cNvSpPr txBox="1"/>
          <p:nvPr/>
        </p:nvSpPr>
        <p:spPr>
          <a:xfrm>
            <a:off x="1344168" y="51206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Объекты бывают культурными (созданы человеком) и природными. Вулканы Камчатки — природный объект.</a:t>
            </a:r>
            <a:endParaRPr lang="en-US" sz="1500" dirty="0"/>
          </a:p>
        </p:txBody>
      </p:sp>
      <p:sp>
        <p:nvSpPr>
          <p:cNvPr id="14" name="Timeline connector"/>
          <p:cNvSpPr/>
          <p:nvPr/>
        </p:nvSpPr>
        <p:spPr>
          <a:xfrm>
            <a:off x="6903720" y="2194560"/>
            <a:ext cx="0" cy="26517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15" name="Timeline 1972 circle"/>
          <p:cNvSpPr/>
          <p:nvPr/>
        </p:nvSpPr>
        <p:spPr>
          <a:xfrm>
            <a:off x="6537960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Timeline 197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894" y="1623974"/>
            <a:ext cx="409651" cy="409651"/>
          </a:xfrm>
          <a:prstGeom prst="rect">
            <a:avLst/>
          </a:prstGeom>
        </p:spPr>
      </p:pic>
      <p:sp>
        <p:nvSpPr>
          <p:cNvPr id="17" name="Timeline 1972 text"/>
          <p:cNvSpPr txBox="1"/>
          <p:nvPr/>
        </p:nvSpPr>
        <p:spPr>
          <a:xfrm>
            <a:off x="7589520" y="1389888"/>
            <a:ext cx="4053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1972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Принята Конвенция об охране всемирного наследия</a:t>
            </a:r>
            <a:endParaRPr lang="en-US" sz="1500" dirty="0"/>
          </a:p>
        </p:txBody>
      </p:sp>
      <p:sp>
        <p:nvSpPr>
          <p:cNvPr id="18" name="Timeline 1996 circle"/>
          <p:cNvSpPr/>
          <p:nvPr/>
        </p:nvSpPr>
        <p:spPr>
          <a:xfrm>
            <a:off x="6537960" y="3154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Timeline 1996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894" y="3315614"/>
            <a:ext cx="409651" cy="409651"/>
          </a:xfrm>
          <a:prstGeom prst="rect">
            <a:avLst/>
          </a:prstGeom>
        </p:spPr>
      </p:pic>
      <p:sp>
        <p:nvSpPr>
          <p:cNvPr id="20" name="Timeline 1996 text"/>
          <p:cNvSpPr txBox="1"/>
          <p:nvPr/>
        </p:nvSpPr>
        <p:spPr>
          <a:xfrm>
            <a:off x="7589520" y="3081528"/>
            <a:ext cx="4053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1996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Вулканы Камчатки включены в Список всемирного наследия</a:t>
            </a:r>
            <a:endParaRPr lang="en-US" sz="1500" dirty="0"/>
          </a:p>
        </p:txBody>
      </p:sp>
      <p:sp>
        <p:nvSpPr>
          <p:cNvPr id="21" name="Timeline 2001 circle"/>
          <p:cNvSpPr/>
          <p:nvPr/>
        </p:nvSpPr>
        <p:spPr>
          <a:xfrm>
            <a:off x="6537960" y="48463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Timeline 2001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8894" y="5007254"/>
            <a:ext cx="409651" cy="409651"/>
          </a:xfrm>
          <a:prstGeom prst="rect">
            <a:avLst/>
          </a:prstGeom>
        </p:spPr>
      </p:pic>
      <p:sp>
        <p:nvSpPr>
          <p:cNvPr id="23" name="Timeline 2001 text"/>
          <p:cNvSpPr txBox="1"/>
          <p:nvPr/>
        </p:nvSpPr>
        <p:spPr>
          <a:xfrm>
            <a:off x="7589520" y="4773168"/>
            <a:ext cx="4053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2001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Объект расширен: добавлен Ключевской природный парк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Где находится Камчатка</a:t>
            </a:r>
            <a:endParaRPr lang="en-US" sz="3600" dirty="0"/>
          </a:p>
        </p:txBody>
      </p:sp>
      <p:pic>
        <p:nvPicPr>
          <p:cNvPr id="4" name="Locator map" descr="Карта: путь от Казани до Камчатк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3898201"/>
          </a:xfrm>
          <a:prstGeom prst="rect">
            <a:avLst/>
          </a:prstGeom>
        </p:spPr>
      </p:pic>
      <p:sp>
        <p:nvSpPr>
          <p:cNvPr id="5" name="Label Kazan"/>
          <p:cNvSpPr txBox="1"/>
          <p:nvPr/>
        </p:nvSpPr>
        <p:spPr>
          <a:xfrm>
            <a:off x="1169282" y="3148469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Казань</a:t>
            </a:r>
            <a:endParaRPr lang="en-US" sz="1500" dirty="0"/>
          </a:p>
        </p:txBody>
      </p:sp>
      <p:sp>
        <p:nvSpPr>
          <p:cNvPr id="6" name="Label Kamchatka"/>
          <p:cNvSpPr txBox="1"/>
          <p:nvPr/>
        </p:nvSpPr>
        <p:spPr>
          <a:xfrm>
            <a:off x="5037888" y="3036691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Камчатка</a:t>
            </a:r>
            <a:endParaRPr lang="en-US" sz="1600" dirty="0"/>
          </a:p>
        </p:txBody>
      </p:sp>
      <p:sp>
        <p:nvSpPr>
          <p:cNvPr id="7" name="Distance chip"/>
          <p:cNvSpPr/>
          <p:nvPr/>
        </p:nvSpPr>
        <p:spPr>
          <a:xfrm>
            <a:off x="3126445" y="2389517"/>
            <a:ext cx="169164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Distance label"/>
          <p:cNvSpPr txBox="1"/>
          <p:nvPr/>
        </p:nvSpPr>
        <p:spPr>
          <a:xfrm>
            <a:off x="3126445" y="2389517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≈ 6 300 км</a:t>
            </a:r>
            <a:endParaRPr lang="en-US" sz="1600" dirty="0"/>
          </a:p>
        </p:txBody>
      </p:sp>
      <p:sp>
        <p:nvSpPr>
          <p:cNvPr id="9" name="Fact chip 1"/>
          <p:cNvSpPr/>
          <p:nvPr/>
        </p:nvSpPr>
        <p:spPr>
          <a:xfrm>
            <a:off x="548640" y="5349240"/>
            <a:ext cx="213360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10" name="Fact chip 1 text"/>
          <p:cNvSpPr txBox="1"/>
          <p:nvPr/>
        </p:nvSpPr>
        <p:spPr>
          <a:xfrm>
            <a:off x="731520" y="5440680"/>
            <a:ext cx="176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1 200 км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длина полуострова</a:t>
            </a:r>
            <a:endParaRPr lang="en-US" sz="1500" dirty="0"/>
          </a:p>
        </p:txBody>
      </p:sp>
      <p:sp>
        <p:nvSpPr>
          <p:cNvPr id="11" name="Fact chip 2"/>
          <p:cNvSpPr/>
          <p:nvPr/>
        </p:nvSpPr>
        <p:spPr>
          <a:xfrm>
            <a:off x="2956560" y="5349240"/>
            <a:ext cx="213360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12" name="Fact chip 2 text"/>
          <p:cNvSpPr txBox="1"/>
          <p:nvPr/>
        </p:nvSpPr>
        <p:spPr>
          <a:xfrm>
            <a:off x="3139440" y="5440680"/>
            <a:ext cx="176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 часов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разница с Казанью</a:t>
            </a:r>
            <a:endParaRPr lang="en-US" sz="1500" dirty="0"/>
          </a:p>
        </p:txBody>
      </p:sp>
      <p:sp>
        <p:nvSpPr>
          <p:cNvPr id="13" name="Fact chip 3"/>
          <p:cNvSpPr/>
          <p:nvPr/>
        </p:nvSpPr>
        <p:spPr>
          <a:xfrm>
            <a:off x="5364480" y="5349240"/>
            <a:ext cx="213360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14" name="Fact chip 3 text"/>
          <p:cNvSpPr txBox="1"/>
          <p:nvPr/>
        </p:nvSpPr>
        <p:spPr>
          <a:xfrm>
            <a:off x="5547360" y="5440680"/>
            <a:ext cx="176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дорог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на «большую землю»</a:t>
            </a:r>
            <a:endParaRPr lang="en-US" sz="1500" dirty="0"/>
          </a:p>
        </p:txBody>
      </p:sp>
      <p:pic>
        <p:nvPicPr>
          <p:cNvPr id="15" name="Relief map" descr="Рельефная карта полуострова Камчат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530" y="1325880"/>
            <a:ext cx="2914114" cy="5074920"/>
          </a:xfrm>
          <a:prstGeom prst="rect">
            <a:avLst/>
          </a:prstGeom>
        </p:spPr>
      </p:pic>
      <p:sp>
        <p:nvSpPr>
          <p:cNvPr id="16" name="Label Okhotsk"/>
          <p:cNvSpPr txBox="1"/>
          <p:nvPr/>
        </p:nvSpPr>
        <p:spPr>
          <a:xfrm>
            <a:off x="8319250" y="1508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Охотское</a:t>
            </a:r>
            <a:endParaRPr lang="en-US" sz="1400" dirty="0"/>
          </a:p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море</a:t>
            </a:r>
            <a:endParaRPr lang="en-US" sz="1400" dirty="0"/>
          </a:p>
        </p:txBody>
      </p:sp>
      <p:sp>
        <p:nvSpPr>
          <p:cNvPr id="17" name="Label Pacific"/>
          <p:cNvSpPr txBox="1"/>
          <p:nvPr/>
        </p:nvSpPr>
        <p:spPr>
          <a:xfrm>
            <a:off x="10090365" y="4675327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Тихий</a:t>
            </a:r>
            <a:endParaRPr lang="en-US" sz="1400" dirty="0"/>
          </a:p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океан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Почему здесь так много вулканов</a:t>
            </a:r>
            <a:endParaRPr lang="en-US" sz="3600" dirty="0"/>
          </a:p>
        </p:txBody>
      </p:sp>
      <p:pic>
        <p:nvPicPr>
          <p:cNvPr id="4" name="Subduction diagram" descr="Схема: Тихоокеанская плита погружается под Камчатку, магма поднимается и образует вулка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675120" cy="4005072"/>
          </a:xfrm>
          <a:prstGeom prst="rect">
            <a:avLst/>
          </a:prstGeom>
        </p:spPr>
      </p:pic>
      <p:sp>
        <p:nvSpPr>
          <p:cNvPr id="5" name="Diagram label Камчатка"/>
          <p:cNvSpPr txBox="1"/>
          <p:nvPr/>
        </p:nvSpPr>
        <p:spPr>
          <a:xfrm>
            <a:off x="771144" y="276225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Камчатка</a:t>
            </a:r>
            <a:endParaRPr lang="en-US" sz="1400" dirty="0"/>
          </a:p>
        </p:txBody>
      </p:sp>
      <p:sp>
        <p:nvSpPr>
          <p:cNvPr id="6" name="Diagram label Тихий океан"/>
          <p:cNvSpPr txBox="1"/>
          <p:nvPr/>
        </p:nvSpPr>
        <p:spPr>
          <a:xfrm>
            <a:off x="4609338" y="276225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Тихий океан</a:t>
            </a:r>
            <a:endParaRPr lang="en-US" sz="1400" dirty="0"/>
          </a:p>
        </p:txBody>
      </p:sp>
      <p:sp>
        <p:nvSpPr>
          <p:cNvPr id="7" name="Diagram label Мантия"/>
          <p:cNvSpPr txBox="1"/>
          <p:nvPr/>
        </p:nvSpPr>
        <p:spPr>
          <a:xfrm>
            <a:off x="5999988" y="5015103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Мантия</a:t>
            </a:r>
            <a:endParaRPr lang="en-US" sz="1400" dirty="0"/>
          </a:p>
        </p:txBody>
      </p:sp>
      <p:sp>
        <p:nvSpPr>
          <p:cNvPr id="8" name="Ring of fire circle"/>
          <p:cNvSpPr/>
          <p:nvPr/>
        </p:nvSpPr>
        <p:spPr>
          <a:xfrm>
            <a:off x="548640" y="565099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Ring of fir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64" y="5775716"/>
            <a:ext cx="317480" cy="317480"/>
          </a:xfrm>
          <a:prstGeom prst="rect">
            <a:avLst/>
          </a:prstGeom>
        </p:spPr>
      </p:pic>
      <p:sp>
        <p:nvSpPr>
          <p:cNvPr id="10" name="Ring of fire text"/>
          <p:cNvSpPr txBox="1"/>
          <p:nvPr/>
        </p:nvSpPr>
        <p:spPr>
          <a:xfrm>
            <a:off x="1344168" y="5623560"/>
            <a:ext cx="5879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Тихоокеанское огненное кольцо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цепочки вулканов вокруг всего Тихого океана. Камчатка — его часть.</a:t>
            </a:r>
            <a:endParaRPr lang="en-US" sz="1500" dirty="0"/>
          </a:p>
        </p:txBody>
      </p:sp>
      <p:sp>
        <p:nvSpPr>
          <p:cNvPr id="11" name="Step 1 marker"/>
          <p:cNvSpPr/>
          <p:nvPr/>
        </p:nvSpPr>
        <p:spPr>
          <a:xfrm>
            <a:off x="7726680" y="146304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2" name="Step 1 number"/>
          <p:cNvSpPr txBox="1"/>
          <p:nvPr/>
        </p:nvSpPr>
        <p:spPr>
          <a:xfrm>
            <a:off x="77266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Step 1 text"/>
          <p:cNvSpPr txBox="1"/>
          <p:nvPr/>
        </p:nvSpPr>
        <p:spPr>
          <a:xfrm>
            <a:off x="8458200" y="1444752"/>
            <a:ext cx="318485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Плита движется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Тихоокеанская плита ползёт к Камчатке — около 8 см в год.</a:t>
            </a:r>
            <a:endParaRPr lang="en-US" sz="1500" dirty="0"/>
          </a:p>
        </p:txBody>
      </p:sp>
      <p:sp>
        <p:nvSpPr>
          <p:cNvPr id="14" name="Step 2 marker"/>
          <p:cNvSpPr/>
          <p:nvPr/>
        </p:nvSpPr>
        <p:spPr>
          <a:xfrm>
            <a:off x="7726680" y="310896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Step 2 number"/>
          <p:cNvSpPr txBox="1"/>
          <p:nvPr/>
        </p:nvSpPr>
        <p:spPr>
          <a:xfrm>
            <a:off x="77266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Step 2 text"/>
          <p:cNvSpPr txBox="1"/>
          <p:nvPr/>
        </p:nvSpPr>
        <p:spPr>
          <a:xfrm>
            <a:off x="8458200" y="3090672"/>
            <a:ext cx="318485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Уходит вглубь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У берега она погружается под материк. На глубине очень горячо — порода плавится в магму.</a:t>
            </a:r>
            <a:endParaRPr lang="en-US" sz="1500" dirty="0"/>
          </a:p>
        </p:txBody>
      </p:sp>
      <p:sp>
        <p:nvSpPr>
          <p:cNvPr id="17" name="Step 3 marker"/>
          <p:cNvSpPr/>
          <p:nvPr/>
        </p:nvSpPr>
        <p:spPr>
          <a:xfrm>
            <a:off x="7726680" y="475488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Step 3 number"/>
          <p:cNvSpPr txBox="1"/>
          <p:nvPr/>
        </p:nvSpPr>
        <p:spPr>
          <a:xfrm>
            <a:off x="77266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Step 3 text"/>
          <p:cNvSpPr txBox="1"/>
          <p:nvPr/>
        </p:nvSpPr>
        <p:spPr>
          <a:xfrm>
            <a:off x="8458200" y="4736592"/>
            <a:ext cx="318485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Рождается вулкан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Лёгкая магма поднимается вверх и прорывается наружу.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Объект в цифрах</a:t>
            </a:r>
            <a:endParaRPr lang="en-US" sz="3600" dirty="0"/>
          </a:p>
        </p:txBody>
      </p:sp>
      <p:sp>
        <p:nvSpPr>
          <p:cNvPr id="4" name="Big stat 1"/>
          <p:cNvSpPr txBox="1"/>
          <p:nvPr/>
        </p:nvSpPr>
        <p:spPr>
          <a:xfrm>
            <a:off x="548640" y="1371600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1996</a:t>
            </a:r>
            <a:endParaRPr lang="en-US" sz="5200" dirty="0"/>
          </a:p>
        </p:txBody>
      </p:sp>
      <p:sp>
        <p:nvSpPr>
          <p:cNvPr id="5" name="Big stat 1 label"/>
          <p:cNvSpPr txBox="1"/>
          <p:nvPr/>
        </p:nvSpPr>
        <p:spPr>
          <a:xfrm>
            <a:off x="548640" y="2377440"/>
            <a:ext cx="238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год включения в Список ЮНЕСКО</a:t>
            </a:r>
            <a:endParaRPr lang="en-US" sz="1500" dirty="0"/>
          </a:p>
        </p:txBody>
      </p:sp>
      <p:sp>
        <p:nvSpPr>
          <p:cNvPr id="6" name="Big stat 2"/>
          <p:cNvSpPr txBox="1"/>
          <p:nvPr/>
        </p:nvSpPr>
        <p:spPr>
          <a:xfrm>
            <a:off x="3390824" y="1371600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200" dirty="0"/>
          </a:p>
        </p:txBody>
      </p:sp>
      <p:sp>
        <p:nvSpPr>
          <p:cNvPr id="7" name="Big stat 2 label"/>
          <p:cNvSpPr txBox="1"/>
          <p:nvPr/>
        </p:nvSpPr>
        <p:spPr>
          <a:xfrm>
            <a:off x="3390824" y="2377440"/>
            <a:ext cx="238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охраняемых территорий</a:t>
            </a:r>
            <a:endParaRPr lang="en-US" sz="1500" dirty="0"/>
          </a:p>
        </p:txBody>
      </p:sp>
      <p:sp>
        <p:nvSpPr>
          <p:cNvPr id="8" name="Big stat 3"/>
          <p:cNvSpPr txBox="1"/>
          <p:nvPr/>
        </p:nvSpPr>
        <p:spPr>
          <a:xfrm>
            <a:off x="6233008" y="1371600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млн га</a:t>
            </a:r>
            <a:endParaRPr lang="en-US" sz="5200" dirty="0"/>
          </a:p>
        </p:txBody>
      </p:sp>
      <p:sp>
        <p:nvSpPr>
          <p:cNvPr id="9" name="Big stat 3 label"/>
          <p:cNvSpPr txBox="1"/>
          <p:nvPr/>
        </p:nvSpPr>
        <p:spPr>
          <a:xfrm>
            <a:off x="6233008" y="2377440"/>
            <a:ext cx="238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площадь — больше, чем вся Бельгия</a:t>
            </a:r>
            <a:endParaRPr lang="en-US" sz="1500" dirty="0"/>
          </a:p>
        </p:txBody>
      </p:sp>
      <p:sp>
        <p:nvSpPr>
          <p:cNvPr id="10" name="Big stat 4"/>
          <p:cNvSpPr txBox="1"/>
          <p:nvPr/>
        </p:nvSpPr>
        <p:spPr>
          <a:xfrm>
            <a:off x="9075191" y="1371600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30</a:t>
            </a:r>
            <a:endParaRPr lang="en-US" sz="5200" dirty="0"/>
          </a:p>
        </p:txBody>
      </p:sp>
      <p:sp>
        <p:nvSpPr>
          <p:cNvPr id="11" name="Big stat 4 label"/>
          <p:cNvSpPr txBox="1"/>
          <p:nvPr/>
        </p:nvSpPr>
        <p:spPr>
          <a:xfrm>
            <a:off x="9075191" y="2377440"/>
            <a:ext cx="238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действующих вулканов и сотни потухших</a:t>
            </a:r>
            <a:endParaRPr lang="en-US" sz="1500" dirty="0"/>
          </a:p>
        </p:txBody>
      </p:sp>
      <p:sp>
        <p:nvSpPr>
          <p:cNvPr id="12" name="Parts heading"/>
          <p:cNvSpPr txBox="1"/>
          <p:nvPr/>
        </p:nvSpPr>
        <p:spPr>
          <a:xfrm>
            <a:off x="548640" y="3429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чего состоит объект</a:t>
            </a:r>
            <a:endParaRPr lang="en-US" sz="2000" dirty="0"/>
          </a:p>
        </p:txBody>
      </p:sp>
      <p:sp>
        <p:nvSpPr>
          <p:cNvPr id="13" name="Part 1 card"/>
          <p:cNvSpPr/>
          <p:nvPr/>
        </p:nvSpPr>
        <p:spPr>
          <a:xfrm>
            <a:off x="548640" y="4023360"/>
            <a:ext cx="3515258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</p:sp>
      <p:sp>
        <p:nvSpPr>
          <p:cNvPr id="14" name="Part 1 circle"/>
          <p:cNvSpPr/>
          <p:nvPr/>
        </p:nvSpPr>
        <p:spPr>
          <a:xfrm>
            <a:off x="731520" y="4283964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Par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4394606"/>
            <a:ext cx="281635" cy="281635"/>
          </a:xfrm>
          <a:prstGeom prst="rect">
            <a:avLst/>
          </a:prstGeom>
        </p:spPr>
      </p:pic>
      <p:sp>
        <p:nvSpPr>
          <p:cNvPr id="16" name="Part 1 text"/>
          <p:cNvSpPr txBox="1"/>
          <p:nvPr/>
        </p:nvSpPr>
        <p:spPr>
          <a:xfrm>
            <a:off x="1417320" y="4178808"/>
            <a:ext cx="250941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Кроноцкий заповедник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Долина гейзеров, кальдера Узон</a:t>
            </a:r>
            <a:endParaRPr lang="en-US" sz="1500" dirty="0"/>
          </a:p>
        </p:txBody>
      </p:sp>
      <p:sp>
        <p:nvSpPr>
          <p:cNvPr id="17" name="Part 2 card"/>
          <p:cNvSpPr/>
          <p:nvPr/>
        </p:nvSpPr>
        <p:spPr>
          <a:xfrm>
            <a:off x="4338218" y="4023360"/>
            <a:ext cx="3515258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</p:sp>
      <p:sp>
        <p:nvSpPr>
          <p:cNvPr id="18" name="Part 2 circle"/>
          <p:cNvSpPr/>
          <p:nvPr/>
        </p:nvSpPr>
        <p:spPr>
          <a:xfrm>
            <a:off x="4521098" y="4283964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Par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741" y="4394606"/>
            <a:ext cx="281635" cy="281635"/>
          </a:xfrm>
          <a:prstGeom prst="rect">
            <a:avLst/>
          </a:prstGeom>
        </p:spPr>
      </p:pic>
      <p:sp>
        <p:nvSpPr>
          <p:cNvPr id="20" name="Part 2 text"/>
          <p:cNvSpPr txBox="1"/>
          <p:nvPr/>
        </p:nvSpPr>
        <p:spPr>
          <a:xfrm>
            <a:off x="5206898" y="4178808"/>
            <a:ext cx="250941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Южно-Камчатский заказник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Курильское озеро</a:t>
            </a:r>
            <a:endParaRPr lang="en-US" sz="1500" dirty="0"/>
          </a:p>
        </p:txBody>
      </p:sp>
      <p:sp>
        <p:nvSpPr>
          <p:cNvPr id="21" name="Part 3 card"/>
          <p:cNvSpPr/>
          <p:nvPr/>
        </p:nvSpPr>
        <p:spPr>
          <a:xfrm>
            <a:off x="8127797" y="4023360"/>
            <a:ext cx="3515258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</p:sp>
      <p:sp>
        <p:nvSpPr>
          <p:cNvPr id="22" name="Part 3 circle"/>
          <p:cNvSpPr/>
          <p:nvPr/>
        </p:nvSpPr>
        <p:spPr>
          <a:xfrm>
            <a:off x="8310677" y="4283964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Par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319" y="4394606"/>
            <a:ext cx="281635" cy="281635"/>
          </a:xfrm>
          <a:prstGeom prst="rect">
            <a:avLst/>
          </a:prstGeom>
        </p:spPr>
      </p:pic>
      <p:sp>
        <p:nvSpPr>
          <p:cNvPr id="24" name="Part 3 text"/>
          <p:cNvSpPr txBox="1"/>
          <p:nvPr/>
        </p:nvSpPr>
        <p:spPr>
          <a:xfrm>
            <a:off x="8996477" y="4178808"/>
            <a:ext cx="250941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Природный парк «Налычево»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горячие источники</a:t>
            </a:r>
            <a:endParaRPr lang="en-US" sz="1500" dirty="0"/>
          </a:p>
        </p:txBody>
      </p:sp>
      <p:sp>
        <p:nvSpPr>
          <p:cNvPr id="25" name="Part 4 card"/>
          <p:cNvSpPr/>
          <p:nvPr/>
        </p:nvSpPr>
        <p:spPr>
          <a:xfrm>
            <a:off x="548640" y="5276088"/>
            <a:ext cx="3515258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</p:sp>
      <p:sp>
        <p:nvSpPr>
          <p:cNvPr id="26" name="Part 4 circle"/>
          <p:cNvSpPr/>
          <p:nvPr/>
        </p:nvSpPr>
        <p:spPr>
          <a:xfrm>
            <a:off x="731520" y="553669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Par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" y="5647334"/>
            <a:ext cx="281635" cy="281635"/>
          </a:xfrm>
          <a:prstGeom prst="rect">
            <a:avLst/>
          </a:prstGeom>
        </p:spPr>
      </p:pic>
      <p:sp>
        <p:nvSpPr>
          <p:cNvPr id="28" name="Part 4 text"/>
          <p:cNvSpPr txBox="1"/>
          <p:nvPr/>
        </p:nvSpPr>
        <p:spPr>
          <a:xfrm>
            <a:off x="1417320" y="5431536"/>
            <a:ext cx="250941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Быстринский природный парк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Срединный хребет</a:t>
            </a:r>
            <a:endParaRPr lang="en-US" sz="1500" dirty="0"/>
          </a:p>
        </p:txBody>
      </p:sp>
      <p:sp>
        <p:nvSpPr>
          <p:cNvPr id="29" name="Part 5 card"/>
          <p:cNvSpPr/>
          <p:nvPr/>
        </p:nvSpPr>
        <p:spPr>
          <a:xfrm>
            <a:off x="4338218" y="5276088"/>
            <a:ext cx="3515258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</p:sp>
      <p:sp>
        <p:nvSpPr>
          <p:cNvPr id="30" name="Part 5 circle"/>
          <p:cNvSpPr/>
          <p:nvPr/>
        </p:nvSpPr>
        <p:spPr>
          <a:xfrm>
            <a:off x="4521098" y="553669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Part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741" y="5647334"/>
            <a:ext cx="281635" cy="281635"/>
          </a:xfrm>
          <a:prstGeom prst="rect">
            <a:avLst/>
          </a:prstGeom>
        </p:spPr>
      </p:pic>
      <p:sp>
        <p:nvSpPr>
          <p:cNvPr id="32" name="Part 5 text"/>
          <p:cNvSpPr txBox="1"/>
          <p:nvPr/>
        </p:nvSpPr>
        <p:spPr>
          <a:xfrm>
            <a:off x="5206898" y="5431536"/>
            <a:ext cx="250941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Южно-Камчатский природный парк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вулканы юга полуострова</a:t>
            </a:r>
            <a:endParaRPr lang="en-US" sz="1500" dirty="0"/>
          </a:p>
        </p:txBody>
      </p:sp>
      <p:sp>
        <p:nvSpPr>
          <p:cNvPr id="33" name="Part 6 card"/>
          <p:cNvSpPr/>
          <p:nvPr/>
        </p:nvSpPr>
        <p:spPr>
          <a:xfrm>
            <a:off x="8127797" y="5276088"/>
            <a:ext cx="3515258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</p:sp>
      <p:sp>
        <p:nvSpPr>
          <p:cNvPr id="34" name="Part 6 circle"/>
          <p:cNvSpPr/>
          <p:nvPr/>
        </p:nvSpPr>
        <p:spPr>
          <a:xfrm>
            <a:off x="8310677" y="553669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5" name="Part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319" y="5647334"/>
            <a:ext cx="281635" cy="281635"/>
          </a:xfrm>
          <a:prstGeom prst="rect">
            <a:avLst/>
          </a:prstGeom>
        </p:spPr>
      </p:pic>
      <p:sp>
        <p:nvSpPr>
          <p:cNvPr id="36" name="Part 6 text"/>
          <p:cNvSpPr txBox="1"/>
          <p:nvPr/>
        </p:nvSpPr>
        <p:spPr>
          <a:xfrm>
            <a:off x="8996477" y="5431536"/>
            <a:ext cx="250941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Ключевской природный парк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Ключевская сопка · с 2001 года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Знаменитые вулканы</a:t>
            </a:r>
            <a:endParaRPr lang="en-US" sz="3600" dirty="0"/>
          </a:p>
        </p:txBody>
      </p:sp>
      <p:pic>
        <p:nvPicPr>
          <p:cNvPr id="4" name="Klyuchevskaya distant photo" descr="Ключевская сопка вдали, осенняя тундр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572000" cy="5029200"/>
          </a:xfrm>
          <a:prstGeom prst="rect">
            <a:avLst/>
          </a:prstGeom>
        </p:spPr>
      </p:pic>
      <p:sp>
        <p:nvSpPr>
          <p:cNvPr id="5" name="Photo caption bg"/>
          <p:cNvSpPr/>
          <p:nvPr/>
        </p:nvSpPr>
        <p:spPr>
          <a:xfrm>
            <a:off x="548640" y="6089904"/>
            <a:ext cx="4572000" cy="310896"/>
          </a:xfrm>
          <a:prstGeom prst="rect">
            <a:avLst/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6" name="Photo caption"/>
          <p:cNvSpPr txBox="1"/>
          <p:nvPr/>
        </p:nvSpPr>
        <p:spPr>
          <a:xfrm>
            <a:off x="658368" y="6089904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Ключевская сопка</a:t>
            </a:r>
            <a:endParaRPr lang="en-US" sz="1000" dirty="0"/>
          </a:p>
        </p:txBody>
      </p:sp>
      <p:sp>
        <p:nvSpPr>
          <p:cNvPr id="7" name="Height stat"/>
          <p:cNvSpPr txBox="1"/>
          <p:nvPr/>
        </p:nvSpPr>
        <p:spPr>
          <a:xfrm>
            <a:off x="5577840" y="1280160"/>
            <a:ext cx="6065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4 750</a:t>
            </a:r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м</a:t>
            </a:r>
            <a:endParaRPr lang="en-US" sz="1500" dirty="0"/>
          </a:p>
        </p:txBody>
      </p:sp>
      <p:sp>
        <p:nvSpPr>
          <p:cNvPr id="8" name="Height stat label"/>
          <p:cNvSpPr txBox="1"/>
          <p:nvPr/>
        </p:nvSpPr>
        <p:spPr>
          <a:xfrm>
            <a:off x="5577840" y="2194560"/>
            <a:ext cx="6065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Ключевская сопка — самый высокий действующий вулкан Евразии</a:t>
            </a:r>
            <a:endParaRPr lang="en-US" sz="1800" dirty="0"/>
          </a:p>
        </p:txBody>
      </p:sp>
      <p:graphicFrame>
        <p:nvGraphicFramePr>
          <p:cNvPr id="9" name="Volcano heights chart" descr=""/>
          <p:cNvGraphicFramePr/>
          <p:nvPr/>
        </p:nvGraphicFramePr>
        <p:xfrm>
          <a:off x="5486400" y="2971800"/>
          <a:ext cx="6156655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35040" y="384048"/>
            <a:ext cx="5608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Долина гейзеров</a:t>
            </a:r>
            <a:endParaRPr lang="en-US" sz="3600" dirty="0"/>
          </a:p>
        </p:txBody>
      </p:sp>
      <p:pic>
        <p:nvPicPr>
          <p:cNvPr id="4" name="Valley of Geysers photo" descr="Пар над Долиной гейзеро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77840" cy="6858000"/>
          </a:xfrm>
          <a:prstGeom prst="rect">
            <a:avLst/>
          </a:prstGeom>
        </p:spPr>
      </p:pic>
      <p:sp>
        <p:nvSpPr>
          <p:cNvPr id="5" name="Geyser definition"/>
          <p:cNvSpPr txBox="1"/>
          <p:nvPr/>
        </p:nvSpPr>
        <p:spPr>
          <a:xfrm>
            <a:off x="6035040" y="1280160"/>
            <a:ext cx="5608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Гейзер — горячий источник, который время от времени выбрасывает фонтан кипятка и пара.</a:t>
            </a:r>
            <a:endParaRPr lang="en-US" sz="1600" dirty="0"/>
          </a:p>
        </p:txBody>
      </p:sp>
      <p:sp>
        <p:nvSpPr>
          <p:cNvPr id="6" name="Geysers row 1 circle"/>
          <p:cNvSpPr/>
          <p:nvPr/>
        </p:nvSpPr>
        <p:spPr>
          <a:xfrm>
            <a:off x="6035040" y="21945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Geysers row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764" y="2319284"/>
            <a:ext cx="317480" cy="317480"/>
          </a:xfrm>
          <a:prstGeom prst="rect">
            <a:avLst/>
          </a:prstGeom>
        </p:spPr>
      </p:pic>
      <p:sp>
        <p:nvSpPr>
          <p:cNvPr id="8" name="Geysers row 1 text"/>
          <p:cNvSpPr txBox="1"/>
          <p:nvPr/>
        </p:nvSpPr>
        <p:spPr>
          <a:xfrm>
            <a:off x="6830568" y="2176272"/>
            <a:ext cx="48124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Открыта в 1941 году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геологом Татьяной Устиновой и проводником Анисифором Крупениным</a:t>
            </a:r>
            <a:endParaRPr lang="en-US" sz="1500" dirty="0"/>
          </a:p>
        </p:txBody>
      </p:sp>
      <p:sp>
        <p:nvSpPr>
          <p:cNvPr id="9" name="Geysers row 2 circle"/>
          <p:cNvSpPr/>
          <p:nvPr/>
        </p:nvSpPr>
        <p:spPr>
          <a:xfrm>
            <a:off x="6035040" y="324612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Geysers row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764" y="3370844"/>
            <a:ext cx="317480" cy="317480"/>
          </a:xfrm>
          <a:prstGeom prst="rect">
            <a:avLst/>
          </a:prstGeom>
        </p:spPr>
      </p:pic>
      <p:sp>
        <p:nvSpPr>
          <p:cNvPr id="11" name="Geysers row 2 text"/>
          <p:cNvSpPr txBox="1"/>
          <p:nvPr/>
        </p:nvSpPr>
        <p:spPr>
          <a:xfrm>
            <a:off x="6830568" y="3227832"/>
            <a:ext cx="48124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≈ 20 крупных гейзеров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и сотни горячих источников на площади около 6 км²</a:t>
            </a:r>
            <a:endParaRPr lang="en-US" sz="1500" dirty="0"/>
          </a:p>
        </p:txBody>
      </p:sp>
      <p:sp>
        <p:nvSpPr>
          <p:cNvPr id="12" name="Geysers row 3 circle"/>
          <p:cNvSpPr/>
          <p:nvPr/>
        </p:nvSpPr>
        <p:spPr>
          <a:xfrm>
            <a:off x="6035040" y="4297680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Geysers row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764" y="4422404"/>
            <a:ext cx="317480" cy="317480"/>
          </a:xfrm>
          <a:prstGeom prst="rect">
            <a:avLst/>
          </a:prstGeom>
        </p:spPr>
      </p:pic>
      <p:sp>
        <p:nvSpPr>
          <p:cNvPr id="14" name="Geysers row 3 text"/>
          <p:cNvSpPr txBox="1"/>
          <p:nvPr/>
        </p:nvSpPr>
        <p:spPr>
          <a:xfrm>
            <a:off x="6830568" y="4279392"/>
            <a:ext cx="48124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2007 — огромный оползень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засыпал часть долины, но гейзеры продолжают работать</a:t>
            </a:r>
            <a:endParaRPr lang="en-US" sz="1500" dirty="0"/>
          </a:p>
        </p:txBody>
      </p:sp>
      <p:sp>
        <p:nvSpPr>
          <p:cNvPr id="15" name="Geysers row 4 circle"/>
          <p:cNvSpPr/>
          <p:nvPr/>
        </p:nvSpPr>
        <p:spPr>
          <a:xfrm>
            <a:off x="6035040" y="534924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Geysers row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9764" y="5473964"/>
            <a:ext cx="317480" cy="317480"/>
          </a:xfrm>
          <a:prstGeom prst="rect">
            <a:avLst/>
          </a:prstGeom>
        </p:spPr>
      </p:pic>
      <p:sp>
        <p:nvSpPr>
          <p:cNvPr id="17" name="Geysers row 4 text"/>
          <p:cNvSpPr txBox="1"/>
          <p:nvPr/>
        </p:nvSpPr>
        <p:spPr>
          <a:xfrm>
            <a:off x="6830568" y="5330952"/>
            <a:ext cx="48124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Только на вертолёте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туристы ходят по деревянным настилам с сотрудниками заповедника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Кальдера Узон — природная лаборатория</a:t>
            </a:r>
            <a:endParaRPr lang="en-US" sz="3600" dirty="0"/>
          </a:p>
        </p:txBody>
      </p:sp>
      <p:sp>
        <p:nvSpPr>
          <p:cNvPr id="4" name="Caldera definition card"/>
          <p:cNvSpPr/>
          <p:nvPr/>
        </p:nvSpPr>
        <p:spPr>
          <a:xfrm>
            <a:off x="548640" y="1371600"/>
            <a:ext cx="566928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5" name="Caldera definition circle"/>
          <p:cNvSpPr/>
          <p:nvPr/>
        </p:nvSpPr>
        <p:spPr>
          <a:xfrm>
            <a:off x="749808" y="16824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ldera defini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532" y="1807220"/>
            <a:ext cx="317480" cy="317480"/>
          </a:xfrm>
          <a:prstGeom prst="rect">
            <a:avLst/>
          </a:prstGeom>
        </p:spPr>
      </p:pic>
      <p:sp>
        <p:nvSpPr>
          <p:cNvPr id="7" name="Caldera definition text"/>
          <p:cNvSpPr txBox="1"/>
          <p:nvPr/>
        </p:nvSpPr>
        <p:spPr>
          <a:xfrm>
            <a:off x="1554480" y="14630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Кальдера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огромная котловина. Она появляется, когда после мощного извержения вершина вулкана проваливается внутрь.</a:t>
            </a:r>
            <a:endParaRPr lang="en-US" sz="1500" dirty="0"/>
          </a:p>
        </p:txBody>
      </p:sp>
      <p:sp>
        <p:nvSpPr>
          <p:cNvPr id="8" name="Uzon fact 1 card"/>
          <p:cNvSpPr/>
          <p:nvPr/>
        </p:nvSpPr>
        <p:spPr>
          <a:xfrm>
            <a:off x="548640" y="2834640"/>
            <a:ext cx="2697480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9" name="Uzon fact 1"/>
          <p:cNvSpPr txBox="1"/>
          <p:nvPr/>
        </p:nvSpPr>
        <p:spPr>
          <a:xfrm>
            <a:off x="749808" y="2834640"/>
            <a:ext cx="2295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40 000 лет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назад образовалась кальдера</a:t>
            </a:r>
            <a:endParaRPr lang="en-US" sz="1500" dirty="0"/>
          </a:p>
        </p:txBody>
      </p:sp>
      <p:sp>
        <p:nvSpPr>
          <p:cNvPr id="10" name="Uzon fact 2 card"/>
          <p:cNvSpPr/>
          <p:nvPr/>
        </p:nvSpPr>
        <p:spPr>
          <a:xfrm>
            <a:off x="3520440" y="2834640"/>
            <a:ext cx="2697480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1" name="Uzon fact 2"/>
          <p:cNvSpPr txBox="1"/>
          <p:nvPr/>
        </p:nvSpPr>
        <p:spPr>
          <a:xfrm>
            <a:off x="3721608" y="2834640"/>
            <a:ext cx="2295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× 9 км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размер котловины</a:t>
            </a:r>
            <a:endParaRPr lang="en-US" sz="1500" dirty="0"/>
          </a:p>
        </p:txBody>
      </p:sp>
      <p:sp>
        <p:nvSpPr>
          <p:cNvPr id="12" name="Uzon fact 3 card"/>
          <p:cNvSpPr/>
          <p:nvPr/>
        </p:nvSpPr>
        <p:spPr>
          <a:xfrm>
            <a:off x="548640" y="4754880"/>
            <a:ext cx="2697480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3" name="Uzon fact 3"/>
          <p:cNvSpPr txBox="1"/>
          <p:nvPr/>
        </p:nvSpPr>
        <p:spPr>
          <a:xfrm>
            <a:off x="749808" y="4754880"/>
            <a:ext cx="2295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100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горячих источников, грязевые котлы и кислотные озёра</a:t>
            </a:r>
            <a:endParaRPr lang="en-US" sz="1500" dirty="0"/>
          </a:p>
        </p:txBody>
      </p:sp>
      <p:sp>
        <p:nvSpPr>
          <p:cNvPr id="14" name="Uzon fact 4 card"/>
          <p:cNvSpPr/>
          <p:nvPr/>
        </p:nvSpPr>
        <p:spPr>
          <a:xfrm>
            <a:off x="3520440" y="4754880"/>
            <a:ext cx="2697480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5" name="Uzon fact 4"/>
          <p:cNvSpPr txBox="1"/>
          <p:nvPr/>
        </p:nvSpPr>
        <p:spPr>
          <a:xfrm>
            <a:off x="3721608" y="4754880"/>
            <a:ext cx="2295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Нефть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здесь образуется самая молодая нефть на планете</a:t>
            </a:r>
            <a:endParaRPr lang="en-US" sz="1500" dirty="0"/>
          </a:p>
        </p:txBody>
      </p:sp>
      <p:pic>
        <p:nvPicPr>
          <p:cNvPr id="16" name="Uzon photo" descr="Хлоридное озеро в кальдере Узон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371600"/>
            <a:ext cx="5105095" cy="5029200"/>
          </a:xfrm>
          <a:prstGeom prst="rect">
            <a:avLst/>
          </a:prstGeom>
        </p:spPr>
      </p:pic>
      <p:sp>
        <p:nvSpPr>
          <p:cNvPr id="17" name="Photo caption bg"/>
          <p:cNvSpPr/>
          <p:nvPr/>
        </p:nvSpPr>
        <p:spPr>
          <a:xfrm>
            <a:off x="6537960" y="6089904"/>
            <a:ext cx="5105095" cy="310896"/>
          </a:xfrm>
          <a:prstGeom prst="rect">
            <a:avLst/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18" name="Photo caption"/>
          <p:cNvSpPr txBox="1"/>
          <p:nvPr/>
        </p:nvSpPr>
        <p:spPr>
          <a:xfrm>
            <a:off x="6647688" y="6089904"/>
            <a:ext cx="48856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Хлоридное озеро в кальдере Узон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Животный мир</a:t>
            </a:r>
            <a:endParaRPr lang="en-US" sz="3600" dirty="0"/>
          </a:p>
        </p:txBody>
      </p:sp>
      <p:pic>
        <p:nvPicPr>
          <p:cNvPr id="4" name="Bear photo" descr="Бурый медведь стоит в воде Курильского озер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3855" y="0"/>
            <a:ext cx="5577840" cy="6858000"/>
          </a:xfrm>
          <a:prstGeom prst="rect">
            <a:avLst/>
          </a:prstGeom>
        </p:spPr>
      </p:pic>
      <p:sp>
        <p:nvSpPr>
          <p:cNvPr id="5" name="Photo caption bg"/>
          <p:cNvSpPr/>
          <p:nvPr/>
        </p:nvSpPr>
        <p:spPr>
          <a:xfrm>
            <a:off x="6613855" y="6547104"/>
            <a:ext cx="5577840" cy="310896"/>
          </a:xfrm>
          <a:prstGeom prst="rect">
            <a:avLst/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6" name="Photo caption"/>
          <p:cNvSpPr txBox="1"/>
          <p:nvPr/>
        </p:nvSpPr>
        <p:spPr>
          <a:xfrm>
            <a:off x="6723583" y="6547104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Медведь на Курильском озере</a:t>
            </a:r>
            <a:endParaRPr lang="en-US" sz="1000" dirty="0"/>
          </a:p>
        </p:txBody>
      </p:sp>
      <p:sp>
        <p:nvSpPr>
          <p:cNvPr id="7" name="Animals row 1 circle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8" name="Animals row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64" y="1633484"/>
            <a:ext cx="317480" cy="317480"/>
          </a:xfrm>
          <a:prstGeom prst="rect">
            <a:avLst/>
          </a:prstGeom>
        </p:spPr>
      </p:pic>
      <p:sp>
        <p:nvSpPr>
          <p:cNvPr id="9" name="Animals row 1 text"/>
          <p:cNvSpPr txBox="1"/>
          <p:nvPr/>
        </p:nvSpPr>
        <p:spPr>
          <a:xfrm>
            <a:off x="1344168" y="1490472"/>
            <a:ext cx="4782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Бурый медведь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только в Кроноцком заповеднике их больше 800</a:t>
            </a:r>
            <a:endParaRPr lang="en-US" sz="1500" dirty="0"/>
          </a:p>
        </p:txBody>
      </p:sp>
      <p:sp>
        <p:nvSpPr>
          <p:cNvPr id="10" name="Animals row 2 circle"/>
          <p:cNvSpPr/>
          <p:nvPr/>
        </p:nvSpPr>
        <p:spPr>
          <a:xfrm>
            <a:off x="548640" y="26517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Animals row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2776484"/>
            <a:ext cx="317480" cy="317480"/>
          </a:xfrm>
          <a:prstGeom prst="rect">
            <a:avLst/>
          </a:prstGeom>
        </p:spPr>
      </p:pic>
      <p:sp>
        <p:nvSpPr>
          <p:cNvPr id="12" name="Animals row 2 text"/>
          <p:cNvSpPr txBox="1"/>
          <p:nvPr/>
        </p:nvSpPr>
        <p:spPr>
          <a:xfrm>
            <a:off x="1344168" y="2633472"/>
            <a:ext cx="4782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Нерка — вид лосося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около 3 млн рыб каждый год приходят на нерест в Курильское озеро</a:t>
            </a:r>
            <a:endParaRPr lang="en-US" sz="1500" dirty="0"/>
          </a:p>
        </p:txBody>
      </p:sp>
      <p:sp>
        <p:nvSpPr>
          <p:cNvPr id="13" name="Animals row 3 circle"/>
          <p:cNvSpPr/>
          <p:nvPr/>
        </p:nvSpPr>
        <p:spPr>
          <a:xfrm>
            <a:off x="548640" y="37947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Animals row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64" y="3919484"/>
            <a:ext cx="317480" cy="317480"/>
          </a:xfrm>
          <a:prstGeom prst="rect">
            <a:avLst/>
          </a:prstGeom>
        </p:spPr>
      </p:pic>
      <p:sp>
        <p:nvSpPr>
          <p:cNvPr id="15" name="Animals row 3 text"/>
          <p:cNvSpPr txBox="1"/>
          <p:nvPr/>
        </p:nvSpPr>
        <p:spPr>
          <a:xfrm>
            <a:off x="1344168" y="3776472"/>
            <a:ext cx="4782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Белоплечий орлан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один из самых крупных орлов в мире, занесён в Красную книгу</a:t>
            </a:r>
            <a:endParaRPr lang="en-US" sz="1500" dirty="0"/>
          </a:p>
        </p:txBody>
      </p:sp>
      <p:sp>
        <p:nvSpPr>
          <p:cNvPr id="16" name="Animals row 4 circle"/>
          <p:cNvSpPr/>
          <p:nvPr/>
        </p:nvSpPr>
        <p:spPr>
          <a:xfrm>
            <a:off x="548640" y="493776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Animals row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64" y="5062484"/>
            <a:ext cx="317480" cy="317480"/>
          </a:xfrm>
          <a:prstGeom prst="rect">
            <a:avLst/>
          </a:prstGeom>
        </p:spPr>
      </p:pic>
      <p:sp>
        <p:nvSpPr>
          <p:cNvPr id="18" name="Animals row 4 text"/>
          <p:cNvSpPr txBox="1"/>
          <p:nvPr/>
        </p:nvSpPr>
        <p:spPr>
          <a:xfrm>
            <a:off x="1344168" y="4919472"/>
            <a:ext cx="4782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Снежный баран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живёт высоко в горах и ловко ходит по скалам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Почему Камчатка в списке ЮНЕСКО</a:t>
            </a:r>
            <a:endParaRPr lang="en-US" sz="3600" dirty="0"/>
          </a:p>
        </p:txBody>
      </p:sp>
      <p:sp>
        <p:nvSpPr>
          <p:cNvPr id="4" name="Criteria stat"/>
          <p:cNvSpPr txBox="1"/>
          <p:nvPr/>
        </p:nvSpPr>
        <p:spPr>
          <a:xfrm>
            <a:off x="548640" y="18288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из 4</a:t>
            </a:r>
            <a:endParaRPr lang="en-US" sz="7200" dirty="0"/>
          </a:p>
        </p:txBody>
      </p:sp>
      <p:sp>
        <p:nvSpPr>
          <p:cNvPr id="5" name="Criteria stat label"/>
          <p:cNvSpPr txBox="1"/>
          <p:nvPr/>
        </p:nvSpPr>
        <p:spPr>
          <a:xfrm>
            <a:off x="548640" y="32461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природных критериев ЮНЕСКО — Камчатка подходит под все сразу</a:t>
            </a:r>
            <a:endParaRPr lang="en-US" sz="2000" dirty="0"/>
          </a:p>
        </p:txBody>
      </p:sp>
      <p:sp>
        <p:nvSpPr>
          <p:cNvPr id="6" name="Criteria note"/>
          <p:cNvSpPr txBox="1"/>
          <p:nvPr/>
        </p:nvSpPr>
        <p:spPr>
          <a:xfrm>
            <a:off x="548640" y="45262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Такое бывает нечасто: для включения в список достаточно и одного критерия.</a:t>
            </a:r>
            <a:endParaRPr lang="en-US" sz="1500" dirty="0"/>
          </a:p>
        </p:txBody>
      </p:sp>
      <p:sp>
        <p:nvSpPr>
          <p:cNvPr id="7" name="Criterion 1 card"/>
          <p:cNvSpPr/>
          <p:nvPr/>
        </p:nvSpPr>
        <p:spPr>
          <a:xfrm>
            <a:off x="4343400" y="1371600"/>
            <a:ext cx="351266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Criterion 1 circle"/>
          <p:cNvSpPr/>
          <p:nvPr/>
        </p:nvSpPr>
        <p:spPr>
          <a:xfrm>
            <a:off x="461772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Criter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8538" y="1786738"/>
            <a:ext cx="358445" cy="358445"/>
          </a:xfrm>
          <a:prstGeom prst="rect">
            <a:avLst/>
          </a:prstGeom>
        </p:spPr>
      </p:pic>
      <p:sp>
        <p:nvSpPr>
          <p:cNvPr id="10" name="Criterion 1 text"/>
          <p:cNvSpPr txBox="1"/>
          <p:nvPr/>
        </p:nvSpPr>
        <p:spPr>
          <a:xfrm>
            <a:off x="4617720" y="2468880"/>
            <a:ext cx="29640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Необычайная красота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вулканы, гейзеры, горячие озёра и дикие реки</a:t>
            </a:r>
            <a:endParaRPr lang="en-US" sz="1500" dirty="0"/>
          </a:p>
        </p:txBody>
      </p:sp>
      <p:sp>
        <p:nvSpPr>
          <p:cNvPr id="11" name="Criterion 2 card"/>
          <p:cNvSpPr/>
          <p:nvPr/>
        </p:nvSpPr>
        <p:spPr>
          <a:xfrm>
            <a:off x="8130388" y="1371600"/>
            <a:ext cx="351266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Criterion 2 circle"/>
          <p:cNvSpPr/>
          <p:nvPr/>
        </p:nvSpPr>
        <p:spPr>
          <a:xfrm>
            <a:off x="8404708" y="16459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Criter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525" y="1786738"/>
            <a:ext cx="358445" cy="358445"/>
          </a:xfrm>
          <a:prstGeom prst="rect">
            <a:avLst/>
          </a:prstGeom>
        </p:spPr>
      </p:pic>
      <p:sp>
        <p:nvSpPr>
          <p:cNvPr id="14" name="Criterion 2 text"/>
          <p:cNvSpPr txBox="1"/>
          <p:nvPr/>
        </p:nvSpPr>
        <p:spPr>
          <a:xfrm>
            <a:off x="8404708" y="2468880"/>
            <a:ext cx="29640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Летопись Земли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видно, как рождаются вулканы и меняется рельеф</a:t>
            </a:r>
            <a:endParaRPr lang="en-US" sz="1500" dirty="0"/>
          </a:p>
        </p:txBody>
      </p:sp>
      <p:sp>
        <p:nvSpPr>
          <p:cNvPr id="15" name="Criterion 3 card"/>
          <p:cNvSpPr/>
          <p:nvPr/>
        </p:nvSpPr>
        <p:spPr>
          <a:xfrm>
            <a:off x="4343400" y="4023360"/>
            <a:ext cx="351266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Criterion 3 circle"/>
          <p:cNvSpPr/>
          <p:nvPr/>
        </p:nvSpPr>
        <p:spPr>
          <a:xfrm>
            <a:off x="4617720" y="42976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Criter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538" y="4438498"/>
            <a:ext cx="358445" cy="358445"/>
          </a:xfrm>
          <a:prstGeom prst="rect">
            <a:avLst/>
          </a:prstGeom>
        </p:spPr>
      </p:pic>
      <p:sp>
        <p:nvSpPr>
          <p:cNvPr id="18" name="Criterion 3 text"/>
          <p:cNvSpPr txBox="1"/>
          <p:nvPr/>
        </p:nvSpPr>
        <p:spPr>
          <a:xfrm>
            <a:off x="4617720" y="5120640"/>
            <a:ext cx="29640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Живые экосистемы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лосось идёт из океана в реки, им кормятся медведи и орланы</a:t>
            </a:r>
            <a:endParaRPr lang="en-US" sz="1500" dirty="0"/>
          </a:p>
        </p:txBody>
      </p:sp>
      <p:sp>
        <p:nvSpPr>
          <p:cNvPr id="19" name="Criterion 4 card"/>
          <p:cNvSpPr/>
          <p:nvPr/>
        </p:nvSpPr>
        <p:spPr>
          <a:xfrm>
            <a:off x="8130388" y="4023360"/>
            <a:ext cx="351266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20" name="Criterion 4 circle"/>
          <p:cNvSpPr/>
          <p:nvPr/>
        </p:nvSpPr>
        <p:spPr>
          <a:xfrm>
            <a:off x="8404708" y="42976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Criter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525" y="4438498"/>
            <a:ext cx="358445" cy="358445"/>
          </a:xfrm>
          <a:prstGeom prst="rect">
            <a:avLst/>
          </a:prstGeom>
        </p:spPr>
      </p:pic>
      <p:sp>
        <p:nvSpPr>
          <p:cNvPr id="22" name="Criterion 4 text"/>
          <p:cNvSpPr txBox="1"/>
          <p:nvPr/>
        </p:nvSpPr>
        <p:spPr>
          <a:xfrm>
            <a:off x="8404708" y="5120640"/>
            <a:ext cx="29640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Разнообразие жизни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много редких растений и животных, в том числе из Красной книги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Что угрожает и как охраняют</a:t>
            </a:r>
            <a:endParaRPr lang="en-US" sz="3600" dirty="0"/>
          </a:p>
        </p:txBody>
      </p:sp>
      <p:sp>
        <p:nvSpPr>
          <p:cNvPr id="4" name="Что угрожает card"/>
          <p:cNvSpPr/>
          <p:nvPr/>
        </p:nvSpPr>
        <p:spPr>
          <a:xfrm>
            <a:off x="548640" y="1371600"/>
            <a:ext cx="5387188" cy="388620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/>
        </p:spPr>
      </p:sp>
      <p:sp>
        <p:nvSpPr>
          <p:cNvPr id="5" name="Что угрожает heading"/>
          <p:cNvSpPr txBox="1"/>
          <p:nvPr/>
        </p:nvSpPr>
        <p:spPr>
          <a:xfrm>
            <a:off x="868680" y="160020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угрожает</a:t>
            </a:r>
            <a:endParaRPr lang="en-US" sz="2200" dirty="0"/>
          </a:p>
        </p:txBody>
      </p:sp>
      <p:sp>
        <p:nvSpPr>
          <p:cNvPr id="6" name="Что угрожает row 1 circle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Что угрожает row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2396642"/>
            <a:ext cx="281635" cy="281635"/>
          </a:xfrm>
          <a:prstGeom prst="rect">
            <a:avLst/>
          </a:prstGeom>
        </p:spPr>
      </p:pic>
      <p:sp>
        <p:nvSpPr>
          <p:cNvPr id="8" name="Что угрожает row 1 text"/>
          <p:cNvSpPr txBox="1"/>
          <p:nvPr/>
        </p:nvSpPr>
        <p:spPr>
          <a:xfrm>
            <a:off x="1600200" y="2249424"/>
            <a:ext cx="40613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Браконьерство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незаконный вылов лосося ради икры</a:t>
            </a:r>
            <a:endParaRPr lang="en-US" sz="1500" dirty="0"/>
          </a:p>
        </p:txBody>
      </p:sp>
      <p:sp>
        <p:nvSpPr>
          <p:cNvPr id="9" name="Что угрожает row 2 circle"/>
          <p:cNvSpPr/>
          <p:nvPr/>
        </p:nvSpPr>
        <p:spPr>
          <a:xfrm>
            <a:off x="868680" y="32461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Что угрожает row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" y="3356762"/>
            <a:ext cx="281635" cy="281635"/>
          </a:xfrm>
          <a:prstGeom prst="rect">
            <a:avLst/>
          </a:prstGeom>
        </p:spPr>
      </p:pic>
      <p:sp>
        <p:nvSpPr>
          <p:cNvPr id="11" name="Что угрожает row 2 text"/>
          <p:cNvSpPr txBox="1"/>
          <p:nvPr/>
        </p:nvSpPr>
        <p:spPr>
          <a:xfrm>
            <a:off x="1600200" y="3209544"/>
            <a:ext cx="40613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Мусор и «дикий» туризм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люди ходят где попало и пугают животных</a:t>
            </a:r>
            <a:endParaRPr lang="en-US" sz="1500" dirty="0"/>
          </a:p>
        </p:txBody>
      </p:sp>
      <p:sp>
        <p:nvSpPr>
          <p:cNvPr id="12" name="Что угрожает row 3 circle"/>
          <p:cNvSpPr/>
          <p:nvPr/>
        </p:nvSpPr>
        <p:spPr>
          <a:xfrm>
            <a:off x="868680" y="4206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Что угрожает row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4316882"/>
            <a:ext cx="281635" cy="281635"/>
          </a:xfrm>
          <a:prstGeom prst="rect">
            <a:avLst/>
          </a:prstGeom>
        </p:spPr>
      </p:pic>
      <p:sp>
        <p:nvSpPr>
          <p:cNvPr id="14" name="Что угрожает row 3 text"/>
          <p:cNvSpPr txBox="1"/>
          <p:nvPr/>
        </p:nvSpPr>
        <p:spPr>
          <a:xfrm>
            <a:off x="1600200" y="4169664"/>
            <a:ext cx="40613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Пожары и стихия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лесные пожары, извержения, оползни</a:t>
            </a:r>
            <a:endParaRPr lang="en-US" sz="1500" dirty="0"/>
          </a:p>
        </p:txBody>
      </p:sp>
      <p:sp>
        <p:nvSpPr>
          <p:cNvPr id="15" name="Как охраняют card"/>
          <p:cNvSpPr/>
          <p:nvPr/>
        </p:nvSpPr>
        <p:spPr>
          <a:xfrm>
            <a:off x="6255868" y="1371600"/>
            <a:ext cx="5387188" cy="388620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/>
        </p:spPr>
      </p:sp>
      <p:sp>
        <p:nvSpPr>
          <p:cNvPr id="16" name="Как охраняют heading"/>
          <p:cNvSpPr txBox="1"/>
          <p:nvPr/>
        </p:nvSpPr>
        <p:spPr>
          <a:xfrm>
            <a:off x="6575908" y="160020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охраняют</a:t>
            </a:r>
            <a:endParaRPr lang="en-US" sz="2200" dirty="0"/>
          </a:p>
        </p:txBody>
      </p:sp>
      <p:sp>
        <p:nvSpPr>
          <p:cNvPr id="17" name="Как охраняют row 1 circle"/>
          <p:cNvSpPr/>
          <p:nvPr/>
        </p:nvSpPr>
        <p:spPr>
          <a:xfrm>
            <a:off x="6575908" y="22860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Как охраняют row 1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2396642"/>
            <a:ext cx="281635" cy="281635"/>
          </a:xfrm>
          <a:prstGeom prst="rect">
            <a:avLst/>
          </a:prstGeom>
        </p:spPr>
      </p:pic>
      <p:sp>
        <p:nvSpPr>
          <p:cNvPr id="19" name="Как охраняют row 1 text"/>
          <p:cNvSpPr txBox="1"/>
          <p:nvPr/>
        </p:nvSpPr>
        <p:spPr>
          <a:xfrm>
            <a:off x="7307428" y="2249424"/>
            <a:ext cx="40613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Заповедный режим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 заповедник — только по разрешению</a:t>
            </a:r>
            <a:endParaRPr lang="en-US" sz="1500" dirty="0"/>
          </a:p>
        </p:txBody>
      </p:sp>
      <p:sp>
        <p:nvSpPr>
          <p:cNvPr id="20" name="Как охраняют row 2 circle"/>
          <p:cNvSpPr/>
          <p:nvPr/>
        </p:nvSpPr>
        <p:spPr>
          <a:xfrm>
            <a:off x="6575908" y="32461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Как охраняют row 2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3356762"/>
            <a:ext cx="281635" cy="281635"/>
          </a:xfrm>
          <a:prstGeom prst="rect">
            <a:avLst/>
          </a:prstGeom>
        </p:spPr>
      </p:pic>
      <p:sp>
        <p:nvSpPr>
          <p:cNvPr id="22" name="Как охраняют row 2 text"/>
          <p:cNvSpPr txBox="1"/>
          <p:nvPr/>
        </p:nvSpPr>
        <p:spPr>
          <a:xfrm>
            <a:off x="7307428" y="3209544"/>
            <a:ext cx="40613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Экотропы и экскурсии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туристы ходят только по маршрутам</a:t>
            </a:r>
            <a:endParaRPr lang="en-US" sz="1500" dirty="0"/>
          </a:p>
        </p:txBody>
      </p:sp>
      <p:sp>
        <p:nvSpPr>
          <p:cNvPr id="23" name="Как охраняют row 3 circle"/>
          <p:cNvSpPr/>
          <p:nvPr/>
        </p:nvSpPr>
        <p:spPr>
          <a:xfrm>
            <a:off x="6575908" y="42062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Как охраняют row 3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6550" y="4316882"/>
            <a:ext cx="281635" cy="281635"/>
          </a:xfrm>
          <a:prstGeom prst="rect">
            <a:avLst/>
          </a:prstGeom>
        </p:spPr>
      </p:pic>
      <p:sp>
        <p:nvSpPr>
          <p:cNvPr id="25" name="Как охраняют row 3 text"/>
          <p:cNvSpPr txBox="1"/>
          <p:nvPr/>
        </p:nvSpPr>
        <p:spPr>
          <a:xfrm>
            <a:off x="7307428" y="4169664"/>
            <a:ext cx="40613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Наблюдение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учёные следят за вулканами, инспекторы охраняют реки</a:t>
            </a:r>
            <a:endParaRPr lang="en-US" sz="1500" dirty="0"/>
          </a:p>
        </p:txBody>
      </p:sp>
      <p:sp>
        <p:nvSpPr>
          <p:cNvPr id="26" name="Our part card"/>
          <p:cNvSpPr/>
          <p:nvPr/>
        </p:nvSpPr>
        <p:spPr>
          <a:xfrm>
            <a:off x="548640" y="5486400"/>
            <a:ext cx="11094415" cy="868680"/>
          </a:xfrm>
          <a:prstGeom prst="roundRect">
            <a:avLst>
              <a:gd name="adj" fmla="val 12632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7" name="Our part circle"/>
          <p:cNvSpPr/>
          <p:nvPr/>
        </p:nvSpPr>
        <p:spPr>
          <a:xfrm>
            <a:off x="777240" y="56692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Our part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882" y="5779922"/>
            <a:ext cx="281635" cy="281635"/>
          </a:xfrm>
          <a:prstGeom prst="rect">
            <a:avLst/>
          </a:prstGeom>
        </p:spPr>
      </p:pic>
      <p:sp>
        <p:nvSpPr>
          <p:cNvPr id="29" name="Our part text"/>
          <p:cNvSpPr txBox="1"/>
          <p:nvPr/>
        </p:nvSpPr>
        <p:spPr>
          <a:xfrm>
            <a:off x="1508760" y="548640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Что можем сделать мы: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не оставлять мусор · ходить только по тропам · не подкармливать диких животных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ronotsky from ISS" descr="Кроноцкая сопка, вид с МК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4" name="Photo caption bg"/>
          <p:cNvSpPr/>
          <p:nvPr/>
        </p:nvSpPr>
        <p:spPr>
          <a:xfrm>
            <a:off x="6400800" y="6547104"/>
            <a:ext cx="5790895" cy="310896"/>
          </a:xfrm>
          <a:prstGeom prst="rect">
            <a:avLst/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5" name="Photo caption"/>
          <p:cNvSpPr txBox="1"/>
          <p:nvPr/>
        </p:nvSpPr>
        <p:spPr>
          <a:xfrm>
            <a:off x="6510528" y="6547104"/>
            <a:ext cx="55714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Кроноцкая сопка, вид с МКС</a:t>
            </a:r>
            <a:endParaRPr lang="en-US" sz="1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8229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Вывод</a:t>
            </a:r>
            <a:endParaRPr lang="en-US" sz="4000" dirty="0"/>
          </a:p>
        </p:txBody>
      </p:sp>
      <p:sp>
        <p:nvSpPr>
          <p:cNvPr id="7" name="Conclusion text"/>
          <p:cNvSpPr txBox="1"/>
          <p:nvPr/>
        </p:nvSpPr>
        <p:spPr>
          <a:xfrm>
            <a:off x="548640" y="18288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Вулканы Камчатки — место, где видно, как живёт и меняется наша планета. Это наследие всего человечества, и наша общая задача — сохранить его.</a:t>
            </a:r>
            <a:endParaRPr lang="en-US" sz="2200" dirty="0"/>
          </a:p>
        </p:txBody>
      </p:sp>
      <p:sp>
        <p:nvSpPr>
          <p:cNvPr id="8" name="Thanks"/>
          <p:cNvSpPr txBox="1"/>
          <p:nvPr/>
        </p:nvSpPr>
        <p:spPr>
          <a:xfrm>
            <a:off x="548640" y="38862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mchatka">
  <a:themeElements>
    <a:clrScheme name="Kamchatka">
      <a:dk1>
        <a:srgbClr val="1F2128"/>
      </a:dk1>
      <a:lt1>
        <a:srgbClr val="FFFFFF"/>
      </a:lt1>
      <a:dk2>
        <a:srgbClr val="4A5160"/>
      </a:dk2>
      <a:lt2>
        <a:srgbClr val="EEF2F5"/>
      </a:lt2>
      <a:accent1>
        <a:srgbClr val="E8590C"/>
      </a:accent1>
      <a:accent2>
        <a:srgbClr val="2F6F8F"/>
      </a:accent2>
      <a:accent3>
        <a:srgbClr val="4F7F3E"/>
      </a:accent3>
      <a:accent4>
        <a:srgbClr val="F2B134"/>
      </a:accent4>
      <a:accent5>
        <a:srgbClr val="8D6E52"/>
      </a:accent5>
      <a:accent6>
        <a:srgbClr val="9AA3AD"/>
      </a:accent6>
      <a:hlink>
        <a:srgbClr val="2F6F8F"/>
      </a:hlink>
      <a:folHlink>
        <a:srgbClr val="6D5A8F"/>
      </a:folHlink>
    </a:clrScheme>
    <a:fontScheme name="Kamchatk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Вулканы Камчатки</dc:title>
  <dc:subject>Объект Всемирного наследия ЮНЕСКО в России</dc:subject>
  <dc:creator>Артур Серазентдинов, 8А класс</dc:creator>
  <cp:lastModifiedBy>Артур Серазентдинов, 8А класс</cp:lastModifiedBy>
  <cp:revision>1</cp:revision>
  <dcterms:created xsi:type="dcterms:W3CDTF">2026-10-21T18:33:46Z</dcterms:created>
  <dcterms:modified xsi:type="dcterms:W3CDTF">2026-10-21T18:33:46Z</dcterms:modified>
</cp:coreProperties>
</file>